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56" r:id="rId5"/>
    <p:sldId id="257" r:id="rId6"/>
    <p:sldId id="258" r:id="rId7"/>
    <p:sldId id="259" r:id="rId8"/>
    <p:sldId id="267" r:id="rId9"/>
    <p:sldId id="260" r:id="rId10"/>
    <p:sldId id="262" r:id="rId11"/>
    <p:sldId id="263" r:id="rId12"/>
    <p:sldId id="268"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ECA06E-488D-83A0-1F93-765C70BF09F4}" v="3" dt="2026-05-06T19:23:40.922"/>
    <p1510:client id="{63EA3267-BA6C-4C0A-A98E-E6B976C7F990}" v="2" dt="2026-05-07T01:47:51.145"/>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as Calderon" userId="S::tomas.calderon@utp.ac.pa::930f39b6-ddee-4e88-91cf-c57e31f8944b" providerId="AD" clId="Web-{4EECA06E-488D-83A0-1F93-765C70BF09F4}"/>
    <pc:docChg chg="modSld">
      <pc:chgData name="Tomas Calderon" userId="S::tomas.calderon@utp.ac.pa::930f39b6-ddee-4e88-91cf-c57e31f8944b" providerId="AD" clId="Web-{4EECA06E-488D-83A0-1F93-765C70BF09F4}" dt="2026-05-06T19:23:39.406" v="0" actId="20577"/>
      <pc:docMkLst>
        <pc:docMk/>
      </pc:docMkLst>
      <pc:sldChg chg="modSp">
        <pc:chgData name="Tomas Calderon" userId="S::tomas.calderon@utp.ac.pa::930f39b6-ddee-4e88-91cf-c57e31f8944b" providerId="AD" clId="Web-{4EECA06E-488D-83A0-1F93-765C70BF09F4}" dt="2026-05-06T19:23:39.406" v="0" actId="20577"/>
        <pc:sldMkLst>
          <pc:docMk/>
          <pc:sldMk cId="665162819" sldId="268"/>
        </pc:sldMkLst>
        <pc:spChg chg="mod">
          <ac:chgData name="Tomas Calderon" userId="S::tomas.calderon@utp.ac.pa::930f39b6-ddee-4e88-91cf-c57e31f8944b" providerId="AD" clId="Web-{4EECA06E-488D-83A0-1F93-765C70BF09F4}" dt="2026-05-06T19:23:39.406" v="0" actId="20577"/>
          <ac:spMkLst>
            <pc:docMk/>
            <pc:sldMk cId="665162819" sldId="268"/>
            <ac:spMk id="3" creationId="{00000000-0000-0000-0000-000000000000}"/>
          </ac:spMkLst>
        </pc:spChg>
      </pc:sldChg>
    </pc:docChg>
  </pc:docChgLst>
  <pc:docChgLst>
    <pc:chgData name="BRIAN CONA" userId="b669df00-ff94-4fd8-8e87-54bc9fab3b9f" providerId="ADAL" clId="{736E178F-BE20-47D3-851F-951E4A621691}"/>
    <pc:docChg chg="undo custSel modSld">
      <pc:chgData name="BRIAN CONA" userId="b669df00-ff94-4fd8-8e87-54bc9fab3b9f" providerId="ADAL" clId="{736E178F-BE20-47D3-851F-951E4A621691}" dt="2026-05-07T01:47:51.145" v="1" actId="21"/>
      <pc:docMkLst>
        <pc:docMk/>
      </pc:docMkLst>
      <pc:sldChg chg="modSp mod">
        <pc:chgData name="BRIAN CONA" userId="b669df00-ff94-4fd8-8e87-54bc9fab3b9f" providerId="ADAL" clId="{736E178F-BE20-47D3-851F-951E4A621691}" dt="2026-05-07T01:47:51.145" v="1" actId="21"/>
        <pc:sldMkLst>
          <pc:docMk/>
          <pc:sldMk cId="2577555606" sldId="267"/>
        </pc:sldMkLst>
        <pc:spChg chg="mod">
          <ac:chgData name="BRIAN CONA" userId="b669df00-ff94-4fd8-8e87-54bc9fab3b9f" providerId="ADAL" clId="{736E178F-BE20-47D3-851F-951E4A621691}" dt="2026-05-07T01:47:51.145" v="1" actId="21"/>
          <ac:spMkLst>
            <pc:docMk/>
            <pc:sldMk cId="2577555606" sldId="267"/>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1C5132-FFA3-4B02-9F09-22FCF40EFA74}" type="datetimeFigureOut">
              <a:rPr lang="en-US" smtClean="0"/>
              <a:t>5/6/2026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3C20D7-F8F1-4196-9585-26F31AFC85C9}" type="slidenum">
              <a:rPr lang="en-US" smtClean="0"/>
              <a:t>‹#›</a:t>
            </a:fld>
            <a:endParaRPr lang="en-US"/>
          </a:p>
        </p:txBody>
      </p:sp>
    </p:spTree>
    <p:extLst>
      <p:ext uri="{BB962C8B-B14F-4D97-AF65-F5344CB8AC3E}">
        <p14:creationId xmlns:p14="http://schemas.microsoft.com/office/powerpoint/2010/main" val="4168162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6E42C9-243F-4DC5-AFF6-9D56B5FA9D63}"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AEC444-603B-4F09-9A06-5917518DD901}" type="slidenum">
              <a:rPr lang="en-US" smtClean="0"/>
              <a:t>‹#›</a:t>
            </a:fld>
            <a:endParaRPr lang="en-US"/>
          </a:p>
        </p:txBody>
      </p:sp>
    </p:spTree>
    <p:extLst>
      <p:ext uri="{BB962C8B-B14F-4D97-AF65-F5344CB8AC3E}">
        <p14:creationId xmlns:p14="http://schemas.microsoft.com/office/powerpoint/2010/main" val="874255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AEC444-603B-4F09-9A06-5917518DD901}" type="slidenum">
              <a:rPr lang="en-US" smtClean="0"/>
              <a:t>1</a:t>
            </a:fld>
            <a:endParaRPr lang="en-US"/>
          </a:p>
        </p:txBody>
      </p:sp>
    </p:spTree>
    <p:extLst>
      <p:ext uri="{BB962C8B-B14F-4D97-AF65-F5344CB8AC3E}">
        <p14:creationId xmlns:p14="http://schemas.microsoft.com/office/powerpoint/2010/main" val="4039154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invGray">
          <a:xfrm>
            <a:off x="0" y="3936697"/>
            <a:ext cx="12192000" cy="210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1" y="4114800"/>
            <a:ext cx="10515598" cy="1158446"/>
          </a:xfrm>
        </p:spPr>
        <p:txBody>
          <a:bodyPr anchor="b">
            <a:normAutofit/>
          </a:bodyPr>
          <a:lstStyle>
            <a:lvl1pPr algn="l">
              <a:defRPr sz="5200">
                <a:solidFill>
                  <a:schemeClr val="tx1"/>
                </a:solidFill>
              </a:defRPr>
            </a:lvl1pPr>
          </a:lstStyle>
          <a:p>
            <a:r>
              <a:rPr lang="en-US"/>
              <a:t>Click to edit Master title style</a:t>
            </a:r>
          </a:p>
        </p:txBody>
      </p:sp>
      <p:sp>
        <p:nvSpPr>
          <p:cNvPr id="3" name="Subtitle 2"/>
          <p:cNvSpPr>
            <a:spLocks noGrp="1"/>
          </p:cNvSpPr>
          <p:nvPr>
            <p:ph type="subTitle" idx="1"/>
          </p:nvPr>
        </p:nvSpPr>
        <p:spPr>
          <a:xfrm>
            <a:off x="838201" y="5338170"/>
            <a:ext cx="10515598" cy="474836"/>
          </a:xfrm>
        </p:spPr>
        <p:txBody>
          <a:bodyPr/>
          <a:lstStyle>
            <a:lvl1pPr marL="0" indent="0" algn="l">
              <a:spcBef>
                <a:spcPts val="0"/>
              </a:spcBef>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6307296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0FE2824-C2A0-4931-BB32-60B24BDBB3CC}" type="datetimeFigureOut">
              <a:rPr lang="en-US" smtClean="0"/>
              <a:t>5/6/2026</a:t>
            </a:fld>
            <a:endParaRPr lang="en-US"/>
          </a:p>
        </p:txBody>
      </p:sp>
      <p:sp>
        <p:nvSpPr>
          <p:cNvPr id="6" name="Slide Number Placeholder 5"/>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2155764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ltGray">
          <a:xfrm>
            <a:off x="0" y="3276600"/>
            <a:ext cx="12192000" cy="27632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3429000"/>
            <a:ext cx="9601200" cy="1838519"/>
          </a:xfrm>
        </p:spPr>
        <p:txBody>
          <a:bodyPr anchor="b">
            <a:normAutofit/>
          </a:bodyPr>
          <a:lstStyle>
            <a:lvl1pPr>
              <a:defRPr sz="52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41248" y="5340096"/>
            <a:ext cx="9601200" cy="475488"/>
          </a:xfrm>
        </p:spPr>
        <p:txBody>
          <a:bodyPr/>
          <a:lstStyle>
            <a:lvl1pPr marL="0" indent="0">
              <a:spcBef>
                <a:spcPts val="0"/>
              </a:spcBef>
              <a:buNone/>
              <a:defRPr sz="240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917355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5224"/>
          </a:xfrm>
        </p:spPr>
        <p:txBody>
          <a:bodyPr/>
          <a:lstStyle/>
          <a:p>
            <a:r>
              <a:rPr lang="en-US"/>
              <a:t>Click to edit Master title style</a:t>
            </a:r>
          </a:p>
        </p:txBody>
      </p:sp>
      <p:sp>
        <p:nvSpPr>
          <p:cNvPr id="3" name="Content Placeholder 2"/>
          <p:cNvSpPr>
            <a:spLocks noGrp="1"/>
          </p:cNvSpPr>
          <p:nvPr>
            <p:ph sz="half" idx="1"/>
          </p:nvPr>
        </p:nvSpPr>
        <p:spPr>
          <a:xfrm>
            <a:off x="838200" y="1825625"/>
            <a:ext cx="5029200" cy="4351338"/>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24600" y="1825625"/>
            <a:ext cx="5029200" cy="4351338"/>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B0FE2824-C2A0-4931-BB32-60B24BDBB3CC}" type="datetimeFigureOut">
              <a:rPr lang="en-US" smtClean="0"/>
              <a:t>5/6/2026</a:t>
            </a:fld>
            <a:endParaRPr lang="en-US"/>
          </a:p>
        </p:txBody>
      </p:sp>
      <p:sp>
        <p:nvSpPr>
          <p:cNvPr id="7" name="Slide Number Placeholder 6"/>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963172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839788" y="1828800"/>
            <a:ext cx="5029200" cy="685800"/>
          </a:xfrm>
        </p:spPr>
        <p:txBody>
          <a:bodyPr anchor="ctr">
            <a:normAutofit/>
          </a:bodyPr>
          <a:lstStyle>
            <a:lvl1pPr marL="0" indent="0">
              <a:spcBef>
                <a:spcPts val="100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14600"/>
            <a:ext cx="5029200" cy="36750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26188" y="1828800"/>
            <a:ext cx="5029200" cy="685800"/>
          </a:xfrm>
        </p:spPr>
        <p:txBody>
          <a:bodyPr anchor="ctr">
            <a:normAutofit/>
          </a:bodyPr>
          <a:lstStyle>
            <a:lvl1pPr marL="0" indent="0">
              <a:spcBef>
                <a:spcPts val="100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6188" y="2514600"/>
            <a:ext cx="5029200" cy="36750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B0FE2824-C2A0-4931-BB32-60B24BDBB3CC}" type="datetimeFigureOut">
              <a:rPr lang="en-US" smtClean="0"/>
              <a:t>5/6/2026</a:t>
            </a:fld>
            <a:endParaRPr lang="en-US"/>
          </a:p>
        </p:txBody>
      </p:sp>
      <p:sp>
        <p:nvSpPr>
          <p:cNvPr id="9" name="Slide Number Placeholder 8"/>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14479940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B0FE2824-C2A0-4931-BB32-60B24BDBB3CC}" type="datetimeFigureOut">
              <a:rPr lang="en-US" smtClean="0"/>
              <a:t>5/6/2026</a:t>
            </a:fld>
            <a:endParaRPr lang="en-US"/>
          </a:p>
        </p:txBody>
      </p:sp>
      <p:sp>
        <p:nvSpPr>
          <p:cNvPr id="5" name="Slide Number Placeholder 4"/>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9563451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B0FE2824-C2A0-4931-BB32-60B24BDBB3CC}" type="datetimeFigureOut">
              <a:rPr lang="en-US" smtClean="0"/>
              <a:t>5/6/2026</a:t>
            </a:fld>
            <a:endParaRPr lang="en-US"/>
          </a:p>
        </p:txBody>
      </p:sp>
      <p:sp>
        <p:nvSpPr>
          <p:cNvPr id="4" name="Slide Number Placeholder 3"/>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6673011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0" y="1524000"/>
            <a:ext cx="3429000" cy="1905000"/>
          </a:xfrm>
        </p:spPr>
        <p:txBody>
          <a:bodyPr anchor="b">
            <a:normAutofit/>
          </a:bodyPr>
          <a:lstStyle>
            <a:lvl1pPr>
              <a:defRPr sz="3400"/>
            </a:lvl1pPr>
          </a:lstStyle>
          <a:p>
            <a:r>
              <a:rPr lang="en-US"/>
              <a:t>Click to edit Master title style</a:t>
            </a:r>
          </a:p>
        </p:txBody>
      </p:sp>
      <p:sp>
        <p:nvSpPr>
          <p:cNvPr id="3" name="Content Placeholder 2"/>
          <p:cNvSpPr>
            <a:spLocks noGrp="1"/>
          </p:cNvSpPr>
          <p:nvPr>
            <p:ph idx="1"/>
          </p:nvPr>
        </p:nvSpPr>
        <p:spPr>
          <a:xfrm>
            <a:off x="838200" y="685800"/>
            <a:ext cx="6400800" cy="52578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924800" y="3581400"/>
            <a:ext cx="3429000" cy="1828800"/>
          </a:xfrm>
        </p:spPr>
        <p:txBody>
          <a:bodyPr/>
          <a:lstStyle>
            <a:lvl1pPr marL="0" indent="0">
              <a:spcBef>
                <a:spcPts val="10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B0FE2824-C2A0-4931-BB32-60B24BDBB3CC}" type="datetimeFigureOut">
              <a:rPr lang="en-US" smtClean="0"/>
              <a:t>5/6/2026</a:t>
            </a:fld>
            <a:endParaRPr lang="en-US"/>
          </a:p>
        </p:txBody>
      </p:sp>
      <p:sp>
        <p:nvSpPr>
          <p:cNvPr id="7" name="Slide Number Placeholder 6"/>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9789611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0" y="1527048"/>
            <a:ext cx="3429000" cy="1901952"/>
          </a:xfrm>
        </p:spPr>
        <p:txBody>
          <a:bodyPr anchor="b">
            <a:normAutofit/>
          </a:bodyPr>
          <a:lstStyle>
            <a:lvl1pPr>
              <a:defRPr sz="3400"/>
            </a:lvl1pPr>
          </a:lstStyle>
          <a:p>
            <a:r>
              <a:rPr lang="en-US"/>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838198" y="685800"/>
            <a:ext cx="6400800" cy="5257800"/>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7924800" y="3581400"/>
            <a:ext cx="3428999" cy="1828800"/>
          </a:xfrm>
        </p:spPr>
        <p:txBody>
          <a:bodyPr/>
          <a:lstStyle>
            <a:lvl1pPr marL="0" indent="0">
              <a:spcBef>
                <a:spcPts val="10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B0FE2824-C2A0-4931-BB32-60B24BDBB3CC}" type="datetimeFigureOut">
              <a:rPr lang="en-US" smtClean="0"/>
              <a:t>5/6/2026</a:t>
            </a:fld>
            <a:endParaRPr lang="en-US"/>
          </a:p>
        </p:txBody>
      </p:sp>
      <p:sp>
        <p:nvSpPr>
          <p:cNvPr id="7" name="Slide Number Placeholder 6"/>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2252791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0FE2824-C2A0-4931-BB32-60B24BDBB3CC}" type="datetimeFigureOut">
              <a:rPr lang="en-US" smtClean="0"/>
              <a:t>5/6/2026</a:t>
            </a:fld>
            <a:endParaRPr lang="en-US"/>
          </a:p>
        </p:txBody>
      </p:sp>
      <p:sp>
        <p:nvSpPr>
          <p:cNvPr id="6" name="Slide Number Placeholder 5"/>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7875576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41693" y="365125"/>
            <a:ext cx="1600200" cy="5811838"/>
          </a:xfrm>
        </p:spPr>
        <p:txBody>
          <a:bodyPr vert="eaVert"/>
          <a:lstStyle>
            <a:lvl1pPr>
              <a:defRPr/>
            </a:lvl1pPr>
          </a:lstStyle>
          <a:p>
            <a:r>
              <a:rPr lang="en-US"/>
              <a:t>Click to edit Master title style</a:t>
            </a:r>
          </a:p>
        </p:txBody>
      </p:sp>
      <p:sp>
        <p:nvSpPr>
          <p:cNvPr id="3" name="Vertical Text Placeholder 2"/>
          <p:cNvSpPr>
            <a:spLocks noGrp="1"/>
          </p:cNvSpPr>
          <p:nvPr>
            <p:ph type="body" orient="vert" idx="1"/>
          </p:nvPr>
        </p:nvSpPr>
        <p:spPr>
          <a:xfrm>
            <a:off x="838200" y="365125"/>
            <a:ext cx="85344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0FE2824-C2A0-4931-BB32-60B24BDBB3CC}" type="datetimeFigureOut">
              <a:rPr lang="en-US" smtClean="0"/>
              <a:t>5/6/2026</a:t>
            </a:fld>
            <a:endParaRPr lang="en-US"/>
          </a:p>
        </p:txBody>
      </p:sp>
      <p:sp>
        <p:nvSpPr>
          <p:cNvPr id="6" name="Slide Number Placeholder 5"/>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7702544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invGray">
          <a:xfrm>
            <a:off x="0" y="6492239"/>
            <a:ext cx="12188825" cy="3657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6"/>
            <a:ext cx="10515600" cy="114522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81000" y="6549715"/>
            <a:ext cx="8442158" cy="229237"/>
          </a:xfrm>
          <a:prstGeom prst="rect">
            <a:avLst/>
          </a:prstGeom>
        </p:spPr>
        <p:txBody>
          <a:bodyPr vert="horz" lIns="91440" tIns="45720" rIns="91440" bIns="45720" rtlCol="0" anchor="ctr"/>
          <a:lstStyle>
            <a:lvl1pPr algn="l">
              <a:defRPr sz="1100">
                <a:solidFill>
                  <a:schemeClr val="bg1">
                    <a:lumMod val="40000"/>
                    <a:lumOff val="60000"/>
                  </a:schemeClr>
                </a:solidFill>
              </a:defRPr>
            </a:lvl1pPr>
          </a:lstStyle>
          <a:p>
            <a:endParaRPr lang="en-US"/>
          </a:p>
        </p:txBody>
      </p:sp>
      <p:sp>
        <p:nvSpPr>
          <p:cNvPr id="4" name="Date Placeholder 3"/>
          <p:cNvSpPr>
            <a:spLocks noGrp="1"/>
          </p:cNvSpPr>
          <p:nvPr>
            <p:ph type="dt" sz="half" idx="2"/>
          </p:nvPr>
        </p:nvSpPr>
        <p:spPr>
          <a:xfrm>
            <a:off x="9685939" y="6549715"/>
            <a:ext cx="1667860" cy="229237"/>
          </a:xfrm>
          <a:prstGeom prst="rect">
            <a:avLst/>
          </a:prstGeom>
        </p:spPr>
        <p:txBody>
          <a:bodyPr vert="horz" lIns="91440" tIns="45720" rIns="91440" bIns="45720" rtlCol="0" anchor="ctr"/>
          <a:lstStyle>
            <a:lvl1pPr algn="r">
              <a:defRPr sz="1100">
                <a:solidFill>
                  <a:schemeClr val="bg1">
                    <a:lumMod val="40000"/>
                    <a:lumOff val="60000"/>
                  </a:schemeClr>
                </a:solidFill>
              </a:defRPr>
            </a:lvl1pPr>
          </a:lstStyle>
          <a:p>
            <a:fld id="{B0FE2824-C2A0-4931-BB32-60B24BDBB3CC}" type="datetimeFigureOut">
              <a:rPr lang="en-US" smtClean="0"/>
              <a:pPr/>
              <a:t>5/6/2026</a:t>
            </a:fld>
            <a:endParaRPr lang="en-US"/>
          </a:p>
        </p:txBody>
      </p:sp>
      <p:sp>
        <p:nvSpPr>
          <p:cNvPr id="6" name="Slide Number Placeholder 5"/>
          <p:cNvSpPr>
            <a:spLocks noGrp="1"/>
          </p:cNvSpPr>
          <p:nvPr>
            <p:ph type="sldNum" sz="quarter" idx="4"/>
          </p:nvPr>
        </p:nvSpPr>
        <p:spPr>
          <a:xfrm>
            <a:off x="11353799" y="6549715"/>
            <a:ext cx="446361" cy="229237"/>
          </a:xfrm>
          <a:prstGeom prst="rect">
            <a:avLst/>
          </a:prstGeom>
        </p:spPr>
        <p:txBody>
          <a:bodyPr vert="horz" lIns="91440" tIns="45720" rIns="91440" bIns="45720" rtlCol="0" anchor="ctr"/>
          <a:lstStyle>
            <a:lvl1pPr algn="r">
              <a:defRPr sz="1100">
                <a:solidFill>
                  <a:schemeClr val="bg1">
                    <a:lumMod val="40000"/>
                    <a:lumOff val="60000"/>
                  </a:schemeClr>
                </a:solidFill>
              </a:defRPr>
            </a:lvl1pPr>
          </a:lstStyle>
          <a:p>
            <a:fld id="{B13333A4-2EF1-4B79-B68C-AB20E66B4822}" type="slidenum">
              <a:rPr lang="en-US" smtClean="0"/>
              <a:pPr/>
              <a:t>‹#›</a:t>
            </a:fld>
            <a:endParaRPr lang="en-US"/>
          </a:p>
        </p:txBody>
      </p:sp>
    </p:spTree>
    <p:extLst>
      <p:ext uri="{BB962C8B-B14F-4D97-AF65-F5344CB8AC3E}">
        <p14:creationId xmlns:p14="http://schemas.microsoft.com/office/powerpoint/2010/main" val="115587165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8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err="1"/>
              <a:t>Sesiones</a:t>
            </a:r>
            <a:r>
              <a:rPr lang="en-US"/>
              <a:t> en PHP</a:t>
            </a:r>
          </a:p>
        </p:txBody>
      </p:sp>
    </p:spTree>
    <p:extLst>
      <p:ext uri="{BB962C8B-B14F-4D97-AF65-F5344CB8AC3E}">
        <p14:creationId xmlns:p14="http://schemas.microsoft.com/office/powerpoint/2010/main" val="2142729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en-US" err="1"/>
              <a:t>Qué</a:t>
            </a:r>
            <a:r>
              <a:rPr lang="en-US"/>
              <a:t> son </a:t>
            </a:r>
            <a:r>
              <a:rPr lang="en-US" err="1"/>
              <a:t>sesiones</a:t>
            </a:r>
            <a:r>
              <a:rPr lang="en-US"/>
              <a:t>?</a:t>
            </a:r>
          </a:p>
        </p:txBody>
      </p:sp>
      <p:sp>
        <p:nvSpPr>
          <p:cNvPr id="3" name="Content Placeholder 2"/>
          <p:cNvSpPr>
            <a:spLocks noGrp="1"/>
          </p:cNvSpPr>
          <p:nvPr>
            <p:ph idx="1"/>
          </p:nvPr>
        </p:nvSpPr>
        <p:spPr/>
        <p:txBody>
          <a:bodyPr/>
          <a:lstStyle/>
          <a:p>
            <a:pPr algn="just"/>
            <a:r>
              <a:rPr lang="es-ES"/>
              <a:t>Son una forma de almacenar información sobre un usuario a lo largo de varias páginas durante su visita al sitio web. A diferencia de las cookies, donde la información se guarda en el navegador del usuario, en las sesiones los datos se almacenan en el servidor, y solo un identificador de sesión se guarda en el navegador del usuario. Esto proporciona un mayor control y seguridad sobre los datos almacenados.</a:t>
            </a:r>
            <a:endParaRPr lang="en-US"/>
          </a:p>
        </p:txBody>
      </p:sp>
    </p:spTree>
    <p:extLst>
      <p:ext uri="{BB962C8B-B14F-4D97-AF65-F5344CB8AC3E}">
        <p14:creationId xmlns:p14="http://schemas.microsoft.com/office/powerpoint/2010/main" val="6821952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en-US" err="1"/>
              <a:t>Cómo</a:t>
            </a:r>
            <a:r>
              <a:rPr lang="en-US"/>
              <a:t> </a:t>
            </a:r>
            <a:r>
              <a:rPr lang="en-US" err="1"/>
              <a:t>funcionan</a:t>
            </a:r>
            <a:r>
              <a:rPr lang="en-US"/>
              <a:t> </a:t>
            </a:r>
            <a:r>
              <a:rPr lang="en-US" err="1"/>
              <a:t>las</a:t>
            </a:r>
            <a:r>
              <a:rPr lang="en-US"/>
              <a:t> </a:t>
            </a:r>
            <a:r>
              <a:rPr lang="en-US" err="1"/>
              <a:t>sesiones</a:t>
            </a:r>
            <a:r>
              <a:rPr lang="en-US"/>
              <a:t> en PHP?</a:t>
            </a:r>
          </a:p>
        </p:txBody>
      </p:sp>
      <p:sp>
        <p:nvSpPr>
          <p:cNvPr id="3" name="Marcador de contenido 2"/>
          <p:cNvSpPr>
            <a:spLocks noGrp="1"/>
          </p:cNvSpPr>
          <p:nvPr>
            <p:ph idx="1"/>
          </p:nvPr>
        </p:nvSpPr>
        <p:spPr/>
        <p:txBody>
          <a:bodyPr/>
          <a:lstStyle/>
          <a:p>
            <a:r>
              <a:rPr lang="es-ES" b="1">
                <a:solidFill>
                  <a:schemeClr val="accent1"/>
                </a:solidFill>
              </a:rPr>
              <a:t>Inicio de la sesión</a:t>
            </a:r>
            <a:r>
              <a:rPr lang="es-ES" b="1"/>
              <a:t>:</a:t>
            </a:r>
            <a:r>
              <a:rPr lang="es-ES"/>
              <a:t> </a:t>
            </a:r>
            <a:r>
              <a:rPr lang="es-ES" sz="1800"/>
              <a:t>Cuando un usuario accede a una página web, PHP puede iniciar una sesión mediante la función </a:t>
            </a:r>
            <a:r>
              <a:rPr lang="es-ES" sz="1800" err="1">
                <a:solidFill>
                  <a:schemeClr val="accent1"/>
                </a:solidFill>
              </a:rPr>
              <a:t>session_start</a:t>
            </a:r>
            <a:r>
              <a:rPr lang="es-ES" sz="1800">
                <a:solidFill>
                  <a:schemeClr val="accent1"/>
                </a:solidFill>
              </a:rPr>
              <a:t>()</a:t>
            </a:r>
            <a:r>
              <a:rPr lang="es-ES" sz="1800"/>
              <a:t>. Esto genera un identificador único (ID de sesión) que se almacena como una cookie en el navegador del usuario.</a:t>
            </a:r>
          </a:p>
          <a:p>
            <a:r>
              <a:rPr lang="es-ES" sz="1800" b="1">
                <a:solidFill>
                  <a:schemeClr val="accent1"/>
                </a:solidFill>
              </a:rPr>
              <a:t>Almacenamiento de información</a:t>
            </a:r>
            <a:r>
              <a:rPr lang="es-ES" sz="1800" b="1"/>
              <a:t>: </a:t>
            </a:r>
            <a:r>
              <a:rPr lang="es-ES" sz="1600"/>
              <a:t>PHP almacena información de la sesión en el servidor utilizando el ID de sesión como clave. Los datos de la sesión pueden ser variables como el nombre de usuario, roles, preferencias, etc.</a:t>
            </a:r>
          </a:p>
          <a:p>
            <a:r>
              <a:rPr lang="es-ES" sz="1600" b="1">
                <a:solidFill>
                  <a:schemeClr val="accent1"/>
                </a:solidFill>
              </a:rPr>
              <a:t>Acceso a la información</a:t>
            </a:r>
            <a:r>
              <a:rPr lang="es-ES" sz="1600" b="1"/>
              <a:t>: </a:t>
            </a:r>
            <a:r>
              <a:rPr lang="es-ES" sz="1600"/>
              <a:t>Cada vez que el usuario navega entre las páginas del sitio, PHP verifica el ID de sesión almacenado en la cookie del usuario y le permite acceder a la información guardada en el servidor.</a:t>
            </a:r>
          </a:p>
          <a:p>
            <a:r>
              <a:rPr lang="es-ES" sz="1800" b="1">
                <a:solidFill>
                  <a:schemeClr val="accent1"/>
                </a:solidFill>
              </a:rPr>
              <a:t>Cierre de sesión</a:t>
            </a:r>
            <a:r>
              <a:rPr lang="es-ES" sz="1800" b="1"/>
              <a:t>: </a:t>
            </a:r>
            <a:r>
              <a:rPr lang="es-ES" sz="1600"/>
              <a:t>Al finalizar la sesión (generalmente cuando el usuario cierra el navegador o se desconecta), la información de la sesión puede ser destruida para liberar recursos.</a:t>
            </a:r>
            <a:endParaRPr lang="es-PA" sz="1600"/>
          </a:p>
        </p:txBody>
      </p:sp>
    </p:spTree>
    <p:extLst>
      <p:ext uri="{BB962C8B-B14F-4D97-AF65-F5344CB8AC3E}">
        <p14:creationId xmlns:p14="http://schemas.microsoft.com/office/powerpoint/2010/main" val="19004862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981200" cy="1145224"/>
          </a:xfrm>
        </p:spPr>
        <p:txBody>
          <a:bodyPr/>
          <a:lstStyle/>
          <a:p>
            <a:r>
              <a:rPr lang="en-US" err="1"/>
              <a:t>Sintaxis</a:t>
            </a:r>
            <a:endParaRPr lang="en-US"/>
          </a:p>
        </p:txBody>
      </p:sp>
      <p:sp>
        <p:nvSpPr>
          <p:cNvPr id="6" name="Marcador de contenido 5"/>
          <p:cNvSpPr>
            <a:spLocks noGrp="1"/>
          </p:cNvSpPr>
          <p:nvPr>
            <p:ph sz="half" idx="1"/>
          </p:nvPr>
        </p:nvSpPr>
        <p:spPr>
          <a:xfrm>
            <a:off x="838200" y="2354054"/>
            <a:ext cx="2667000" cy="2289175"/>
          </a:xfrm>
        </p:spPr>
        <p:txBody>
          <a:bodyPr/>
          <a:lstStyle/>
          <a:p>
            <a:pPr marL="0" indent="0">
              <a:buNone/>
            </a:pPr>
            <a:r>
              <a:rPr lang="es-PA" b="1"/>
              <a:t>Iniciar una sesión.</a:t>
            </a:r>
          </a:p>
          <a:p>
            <a:pPr marL="0" indent="0">
              <a:buNone/>
            </a:pPr>
            <a:r>
              <a:rPr lang="es-PA" sz="1600"/>
              <a:t>&lt;?</a:t>
            </a:r>
            <a:r>
              <a:rPr lang="es-PA" sz="1600" err="1"/>
              <a:t>php</a:t>
            </a:r>
            <a:endParaRPr lang="es-PA" sz="1600"/>
          </a:p>
          <a:p>
            <a:pPr marL="0" indent="0">
              <a:buNone/>
            </a:pPr>
            <a:r>
              <a:rPr lang="es-PA" sz="1600"/>
              <a:t>// Iniciar sesión</a:t>
            </a:r>
          </a:p>
          <a:p>
            <a:pPr marL="0" indent="0">
              <a:buNone/>
            </a:pPr>
            <a:r>
              <a:rPr lang="es-PA" sz="1600" err="1">
                <a:solidFill>
                  <a:schemeClr val="accent1"/>
                </a:solidFill>
              </a:rPr>
              <a:t>session_start</a:t>
            </a:r>
            <a:r>
              <a:rPr lang="es-PA" sz="1600">
                <a:solidFill>
                  <a:schemeClr val="accent1"/>
                </a:solidFill>
              </a:rPr>
              <a:t>();</a:t>
            </a:r>
          </a:p>
          <a:p>
            <a:pPr marL="0" indent="0">
              <a:buNone/>
            </a:pPr>
            <a:r>
              <a:rPr lang="es-PA" sz="1600"/>
              <a:t>?&gt;</a:t>
            </a:r>
          </a:p>
          <a:p>
            <a:pPr marL="0" indent="0">
              <a:buNone/>
            </a:pPr>
            <a:endParaRPr lang="es-PA"/>
          </a:p>
        </p:txBody>
      </p:sp>
      <p:sp>
        <p:nvSpPr>
          <p:cNvPr id="8" name="Marcador de contenido 5"/>
          <p:cNvSpPr>
            <a:spLocks noGrp="1"/>
          </p:cNvSpPr>
          <p:nvPr>
            <p:ph sz="half" idx="1"/>
          </p:nvPr>
        </p:nvSpPr>
        <p:spPr>
          <a:xfrm>
            <a:off x="4922108" y="838200"/>
            <a:ext cx="4572000" cy="2289175"/>
          </a:xfrm>
        </p:spPr>
        <p:txBody>
          <a:bodyPr>
            <a:normAutofit fontScale="92500" lnSpcReduction="20000"/>
          </a:bodyPr>
          <a:lstStyle/>
          <a:p>
            <a:pPr marL="0" indent="0">
              <a:buNone/>
            </a:pPr>
            <a:r>
              <a:rPr lang="es-ES" b="1"/>
              <a:t>Eliminar una variable de la sesión</a:t>
            </a:r>
            <a:r>
              <a:rPr lang="es-ES"/>
              <a:t>:</a:t>
            </a:r>
          </a:p>
          <a:p>
            <a:pPr marL="0" indent="0">
              <a:buNone/>
            </a:pPr>
            <a:r>
              <a:rPr lang="es-ES" sz="1600"/>
              <a:t>&lt;?</a:t>
            </a:r>
            <a:r>
              <a:rPr lang="es-ES" sz="1600" err="1"/>
              <a:t>php</a:t>
            </a:r>
            <a:endParaRPr lang="es-ES" sz="1600"/>
          </a:p>
          <a:p>
            <a:pPr marL="0" indent="0">
              <a:buNone/>
            </a:pPr>
            <a:r>
              <a:rPr lang="es-ES" sz="1600" err="1">
                <a:solidFill>
                  <a:schemeClr val="accent1"/>
                </a:solidFill>
              </a:rPr>
              <a:t>session_start</a:t>
            </a:r>
            <a:r>
              <a:rPr lang="es-ES" sz="1600">
                <a:solidFill>
                  <a:schemeClr val="accent1"/>
                </a:solidFill>
              </a:rPr>
              <a:t>();</a:t>
            </a:r>
          </a:p>
          <a:p>
            <a:pPr marL="0" indent="0">
              <a:buNone/>
            </a:pPr>
            <a:r>
              <a:rPr lang="es-ES" sz="1600"/>
              <a:t>// Eliminar una variable de la sesión</a:t>
            </a:r>
          </a:p>
          <a:p>
            <a:pPr marL="0" indent="0">
              <a:buNone/>
            </a:pPr>
            <a:r>
              <a:rPr lang="es-ES" sz="1600" err="1">
                <a:solidFill>
                  <a:schemeClr val="accent1"/>
                </a:solidFill>
              </a:rPr>
              <a:t>unset</a:t>
            </a:r>
            <a:r>
              <a:rPr lang="es-ES" sz="1600">
                <a:solidFill>
                  <a:schemeClr val="accent1"/>
                </a:solidFill>
              </a:rPr>
              <a:t>($_SESSION["usuario"]);</a:t>
            </a:r>
          </a:p>
          <a:p>
            <a:pPr marL="0" indent="0">
              <a:buNone/>
            </a:pPr>
            <a:r>
              <a:rPr lang="es-PA" sz="1600"/>
              <a:t>?&gt;</a:t>
            </a:r>
          </a:p>
          <a:p>
            <a:pPr marL="0" indent="0">
              <a:buNone/>
            </a:pPr>
            <a:endParaRPr lang="es-ES" sz="1600"/>
          </a:p>
          <a:p>
            <a:pPr marL="0" indent="0">
              <a:buNone/>
            </a:pPr>
            <a:endParaRPr lang="es-PA"/>
          </a:p>
        </p:txBody>
      </p:sp>
      <p:sp>
        <p:nvSpPr>
          <p:cNvPr id="9" name="CuadroTexto 8"/>
          <p:cNvSpPr txBox="1"/>
          <p:nvPr/>
        </p:nvSpPr>
        <p:spPr>
          <a:xfrm>
            <a:off x="4922108" y="3581400"/>
            <a:ext cx="4648200" cy="2123658"/>
          </a:xfrm>
          <a:prstGeom prst="rect">
            <a:avLst/>
          </a:prstGeom>
          <a:noFill/>
        </p:spPr>
        <p:txBody>
          <a:bodyPr wrap="square" rtlCol="0">
            <a:spAutoFit/>
          </a:bodyPr>
          <a:lstStyle/>
          <a:p>
            <a:r>
              <a:rPr lang="es-PA" b="1"/>
              <a:t>Destruir la sesión completamente</a:t>
            </a:r>
            <a:r>
              <a:rPr lang="es-PA"/>
              <a:t>:</a:t>
            </a:r>
          </a:p>
          <a:p>
            <a:r>
              <a:rPr lang="es-PA" sz="1600"/>
              <a:t>&lt;?</a:t>
            </a:r>
            <a:r>
              <a:rPr lang="es-PA" sz="1600" err="1"/>
              <a:t>php</a:t>
            </a:r>
            <a:endParaRPr lang="es-PA" sz="1600"/>
          </a:p>
          <a:p>
            <a:r>
              <a:rPr lang="es-PA" sz="1600" err="1">
                <a:solidFill>
                  <a:schemeClr val="accent1"/>
                </a:solidFill>
              </a:rPr>
              <a:t>session_start</a:t>
            </a:r>
            <a:r>
              <a:rPr lang="es-PA" sz="1600">
                <a:solidFill>
                  <a:schemeClr val="accent1"/>
                </a:solidFill>
              </a:rPr>
              <a:t>();</a:t>
            </a:r>
          </a:p>
          <a:p>
            <a:endParaRPr lang="es-PA" sz="1600"/>
          </a:p>
          <a:p>
            <a:r>
              <a:rPr lang="es-PA" sz="1600"/>
              <a:t>// Destruir la sesión por completo</a:t>
            </a:r>
          </a:p>
          <a:p>
            <a:r>
              <a:rPr lang="es-PA" sz="1600" err="1">
                <a:solidFill>
                  <a:schemeClr val="accent1"/>
                </a:solidFill>
              </a:rPr>
              <a:t>session_destroy</a:t>
            </a:r>
            <a:r>
              <a:rPr lang="es-PA" sz="1600">
                <a:solidFill>
                  <a:schemeClr val="accent1"/>
                </a:solidFill>
              </a:rPr>
              <a:t>();</a:t>
            </a:r>
          </a:p>
          <a:p>
            <a:r>
              <a:rPr lang="es-PA" sz="1600"/>
              <a:t>?&gt;</a:t>
            </a:r>
          </a:p>
          <a:p>
            <a:endParaRPr lang="es-PA"/>
          </a:p>
        </p:txBody>
      </p:sp>
    </p:spTree>
    <p:extLst>
      <p:ext uri="{BB962C8B-B14F-4D97-AF65-F5344CB8AC3E}">
        <p14:creationId xmlns:p14="http://schemas.microsoft.com/office/powerpoint/2010/main" val="11805891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5546" y="152400"/>
            <a:ext cx="1981200" cy="574589"/>
          </a:xfrm>
        </p:spPr>
        <p:txBody>
          <a:bodyPr/>
          <a:lstStyle/>
          <a:p>
            <a:r>
              <a:rPr lang="en-US" err="1"/>
              <a:t>Sintaxis</a:t>
            </a:r>
            <a:endParaRPr lang="en-US"/>
          </a:p>
        </p:txBody>
      </p:sp>
      <p:sp>
        <p:nvSpPr>
          <p:cNvPr id="7" name="CuadroTexto 6"/>
          <p:cNvSpPr txBox="1"/>
          <p:nvPr/>
        </p:nvSpPr>
        <p:spPr>
          <a:xfrm>
            <a:off x="6934200" y="381000"/>
            <a:ext cx="5029200" cy="2954655"/>
          </a:xfrm>
          <a:prstGeom prst="rect">
            <a:avLst/>
          </a:prstGeom>
          <a:noFill/>
        </p:spPr>
        <p:txBody>
          <a:bodyPr wrap="square" rtlCol="0">
            <a:spAutoFit/>
          </a:bodyPr>
          <a:lstStyle/>
          <a:p>
            <a:r>
              <a:rPr lang="es-ES" sz="2000" b="1"/>
              <a:t>Acceder a información de la sesión</a:t>
            </a:r>
          </a:p>
          <a:p>
            <a:r>
              <a:rPr lang="es-ES" sz="1600"/>
              <a:t>&lt;?</a:t>
            </a:r>
            <a:r>
              <a:rPr lang="es-ES" sz="1600" err="1"/>
              <a:t>php</a:t>
            </a:r>
            <a:endParaRPr lang="es-ES" sz="1600"/>
          </a:p>
          <a:p>
            <a:r>
              <a:rPr lang="es-ES" sz="1600" err="1">
                <a:solidFill>
                  <a:schemeClr val="accent1"/>
                </a:solidFill>
              </a:rPr>
              <a:t>session_start</a:t>
            </a:r>
            <a:r>
              <a:rPr lang="es-ES" sz="1600">
                <a:solidFill>
                  <a:schemeClr val="accent1"/>
                </a:solidFill>
              </a:rPr>
              <a:t>();</a:t>
            </a:r>
          </a:p>
          <a:p>
            <a:endParaRPr lang="es-ES" sz="1600"/>
          </a:p>
          <a:p>
            <a:r>
              <a:rPr lang="es-ES" sz="1600" err="1">
                <a:solidFill>
                  <a:schemeClr val="accent1"/>
                </a:solidFill>
              </a:rPr>
              <a:t>if</a:t>
            </a:r>
            <a:r>
              <a:rPr lang="es-ES" sz="1600">
                <a:solidFill>
                  <a:schemeClr val="accent1"/>
                </a:solidFill>
              </a:rPr>
              <a:t> (</a:t>
            </a:r>
            <a:r>
              <a:rPr lang="es-ES" sz="1600" err="1">
                <a:solidFill>
                  <a:schemeClr val="accent1"/>
                </a:solidFill>
              </a:rPr>
              <a:t>isset</a:t>
            </a:r>
            <a:r>
              <a:rPr lang="es-ES" sz="1600">
                <a:solidFill>
                  <a:schemeClr val="accent1"/>
                </a:solidFill>
              </a:rPr>
              <a:t>($_SESSION["usuario"])) {</a:t>
            </a:r>
          </a:p>
          <a:p>
            <a:r>
              <a:rPr lang="es-ES" sz="1600">
                <a:solidFill>
                  <a:schemeClr val="accent1"/>
                </a:solidFill>
              </a:rPr>
              <a:t>    echo "Usuario actual: " . $_SESSION["usuario"];</a:t>
            </a:r>
          </a:p>
          <a:p>
            <a:r>
              <a:rPr lang="es-ES" sz="1600">
                <a:solidFill>
                  <a:schemeClr val="accent1"/>
                </a:solidFill>
              </a:rPr>
              <a:t>} </a:t>
            </a:r>
            <a:r>
              <a:rPr lang="es-ES" sz="1600" err="1">
                <a:solidFill>
                  <a:schemeClr val="accent1"/>
                </a:solidFill>
              </a:rPr>
              <a:t>else</a:t>
            </a:r>
            <a:r>
              <a:rPr lang="es-ES" sz="1600">
                <a:solidFill>
                  <a:schemeClr val="accent1"/>
                </a:solidFill>
              </a:rPr>
              <a:t> {</a:t>
            </a:r>
          </a:p>
          <a:p>
            <a:r>
              <a:rPr lang="es-ES" sz="1600">
                <a:solidFill>
                  <a:schemeClr val="accent1"/>
                </a:solidFill>
              </a:rPr>
              <a:t>    echo "No hay usuario en la sesión.";</a:t>
            </a:r>
          </a:p>
          <a:p>
            <a:r>
              <a:rPr lang="es-ES" sz="1600">
                <a:solidFill>
                  <a:schemeClr val="accent1"/>
                </a:solidFill>
              </a:rPr>
              <a:t>}</a:t>
            </a:r>
          </a:p>
          <a:p>
            <a:r>
              <a:rPr lang="es-ES" sz="1600"/>
              <a:t>?&gt;</a:t>
            </a:r>
          </a:p>
          <a:p>
            <a:endParaRPr lang="es-PA"/>
          </a:p>
        </p:txBody>
      </p:sp>
      <p:sp>
        <p:nvSpPr>
          <p:cNvPr id="8" name="CuadroTexto 7"/>
          <p:cNvSpPr txBox="1"/>
          <p:nvPr/>
        </p:nvSpPr>
        <p:spPr>
          <a:xfrm>
            <a:off x="815546" y="1076980"/>
            <a:ext cx="5029200" cy="3416320"/>
          </a:xfrm>
          <a:prstGeom prst="rect">
            <a:avLst/>
          </a:prstGeom>
          <a:noFill/>
        </p:spPr>
        <p:txBody>
          <a:bodyPr wrap="square" rtlCol="0">
            <a:spAutoFit/>
          </a:bodyPr>
          <a:lstStyle/>
          <a:p>
            <a:r>
              <a:rPr lang="es-ES" sz="2000" b="1"/>
              <a:t>Almacenar información en la sesión</a:t>
            </a:r>
          </a:p>
          <a:p>
            <a:endParaRPr lang="es-ES"/>
          </a:p>
          <a:p>
            <a:r>
              <a:rPr lang="es-ES" sz="1600"/>
              <a:t>&lt;?</a:t>
            </a:r>
            <a:r>
              <a:rPr lang="es-ES" sz="1600" err="1"/>
              <a:t>php</a:t>
            </a:r>
            <a:endParaRPr lang="es-ES" sz="1600"/>
          </a:p>
          <a:p>
            <a:r>
              <a:rPr lang="es-ES" sz="1600"/>
              <a:t>// Iniciar sesión</a:t>
            </a:r>
          </a:p>
          <a:p>
            <a:r>
              <a:rPr lang="es-ES" sz="1600" err="1">
                <a:solidFill>
                  <a:schemeClr val="accent1"/>
                </a:solidFill>
              </a:rPr>
              <a:t>session_start</a:t>
            </a:r>
            <a:r>
              <a:rPr lang="es-ES" sz="1600">
                <a:solidFill>
                  <a:schemeClr val="accent1"/>
                </a:solidFill>
              </a:rPr>
              <a:t>();</a:t>
            </a:r>
          </a:p>
          <a:p>
            <a:endParaRPr lang="es-ES" sz="1600"/>
          </a:p>
          <a:p>
            <a:r>
              <a:rPr lang="es-ES" sz="1600"/>
              <a:t>// Almacenar datos en la sesión</a:t>
            </a:r>
          </a:p>
          <a:p>
            <a:r>
              <a:rPr lang="es-ES" sz="1600">
                <a:solidFill>
                  <a:schemeClr val="accent1"/>
                </a:solidFill>
              </a:rPr>
              <a:t>$_SESSION["usuario"] = "Juan";</a:t>
            </a:r>
          </a:p>
          <a:p>
            <a:r>
              <a:rPr lang="es-ES" sz="1600">
                <a:solidFill>
                  <a:schemeClr val="accent1"/>
                </a:solidFill>
              </a:rPr>
              <a:t>$_SESSION["rol"] = "administrador";</a:t>
            </a:r>
          </a:p>
          <a:p>
            <a:endParaRPr lang="es-ES" sz="1600">
              <a:solidFill>
                <a:schemeClr val="accent1"/>
              </a:solidFill>
            </a:endParaRPr>
          </a:p>
          <a:p>
            <a:r>
              <a:rPr lang="es-ES" sz="1600">
                <a:solidFill>
                  <a:schemeClr val="accent1"/>
                </a:solidFill>
              </a:rPr>
              <a:t>echo "Bienvenido " . $_SESSION["usuario"];</a:t>
            </a:r>
          </a:p>
          <a:p>
            <a:r>
              <a:rPr lang="es-ES" sz="1600"/>
              <a:t>?&gt;</a:t>
            </a:r>
          </a:p>
          <a:p>
            <a:endParaRPr lang="es-PA"/>
          </a:p>
        </p:txBody>
      </p:sp>
      <p:sp>
        <p:nvSpPr>
          <p:cNvPr id="5" name="CuadroTexto 4"/>
          <p:cNvSpPr txBox="1"/>
          <p:nvPr/>
        </p:nvSpPr>
        <p:spPr>
          <a:xfrm>
            <a:off x="5943600" y="3335655"/>
            <a:ext cx="5638800" cy="3170099"/>
          </a:xfrm>
          <a:prstGeom prst="rect">
            <a:avLst/>
          </a:prstGeom>
          <a:noFill/>
        </p:spPr>
        <p:txBody>
          <a:bodyPr wrap="square" rtlCol="0">
            <a:spAutoFit/>
          </a:bodyPr>
          <a:lstStyle/>
          <a:p>
            <a:r>
              <a:rPr lang="es-ES" sz="2000" b="1"/>
              <a:t>Modificar datos de la sesión</a:t>
            </a:r>
          </a:p>
          <a:p>
            <a:endParaRPr lang="es-ES"/>
          </a:p>
          <a:p>
            <a:r>
              <a:rPr lang="es-ES" sz="1600"/>
              <a:t>&lt;?</a:t>
            </a:r>
            <a:r>
              <a:rPr lang="es-ES" sz="1600" err="1"/>
              <a:t>php</a:t>
            </a:r>
            <a:endParaRPr lang="es-ES" sz="1600"/>
          </a:p>
          <a:p>
            <a:r>
              <a:rPr lang="es-ES" sz="1600"/>
              <a:t>// Iniciar la sesión</a:t>
            </a:r>
          </a:p>
          <a:p>
            <a:r>
              <a:rPr lang="es-ES" sz="1600" err="1">
                <a:solidFill>
                  <a:schemeClr val="accent1"/>
                </a:solidFill>
              </a:rPr>
              <a:t>session_start</a:t>
            </a:r>
            <a:r>
              <a:rPr lang="es-ES" sz="1600">
                <a:solidFill>
                  <a:schemeClr val="accent1"/>
                </a:solidFill>
              </a:rPr>
              <a:t>();</a:t>
            </a:r>
          </a:p>
          <a:p>
            <a:endParaRPr lang="es-ES" sz="1600"/>
          </a:p>
          <a:p>
            <a:r>
              <a:rPr lang="es-ES" sz="1600"/>
              <a:t>// Modificar un dato en la sesión</a:t>
            </a:r>
          </a:p>
          <a:p>
            <a:r>
              <a:rPr lang="es-ES" sz="1600">
                <a:solidFill>
                  <a:schemeClr val="accent1"/>
                </a:solidFill>
              </a:rPr>
              <a:t>$_SESSION['usuario'] = 'Carlos';</a:t>
            </a:r>
          </a:p>
          <a:p>
            <a:r>
              <a:rPr lang="es-ES" sz="1600"/>
              <a:t>// Imprime: Carlos</a:t>
            </a:r>
          </a:p>
          <a:p>
            <a:r>
              <a:rPr lang="es-ES" sz="1600">
                <a:solidFill>
                  <a:schemeClr val="accent1"/>
                </a:solidFill>
              </a:rPr>
              <a:t>echo 'Nuevo Usuario: ' . $_SESSION['usuario'];</a:t>
            </a:r>
          </a:p>
          <a:p>
            <a:r>
              <a:rPr lang="es-ES" sz="1600"/>
              <a:t>?&gt;</a:t>
            </a:r>
          </a:p>
          <a:p>
            <a:endParaRPr lang="es-PA"/>
          </a:p>
        </p:txBody>
      </p:sp>
    </p:spTree>
    <p:extLst>
      <p:ext uri="{BB962C8B-B14F-4D97-AF65-F5344CB8AC3E}">
        <p14:creationId xmlns:p14="http://schemas.microsoft.com/office/powerpoint/2010/main" val="25775556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10515600" cy="625474"/>
          </a:xfrm>
        </p:spPr>
        <p:txBody>
          <a:bodyPr/>
          <a:lstStyle/>
          <a:p>
            <a:r>
              <a:rPr lang="en-US" err="1"/>
              <a:t>Buenas</a:t>
            </a:r>
            <a:r>
              <a:rPr lang="en-US"/>
              <a:t> </a:t>
            </a:r>
            <a:r>
              <a:rPr lang="en-US" err="1"/>
              <a:t>prácticas</a:t>
            </a:r>
            <a:r>
              <a:rPr lang="en-US"/>
              <a:t> para </a:t>
            </a:r>
            <a:r>
              <a:rPr lang="en-US" err="1"/>
              <a:t>sesiones</a:t>
            </a:r>
            <a:r>
              <a:rPr lang="en-US"/>
              <a:t> en PHP</a:t>
            </a:r>
          </a:p>
        </p:txBody>
      </p:sp>
      <p:sp>
        <p:nvSpPr>
          <p:cNvPr id="5" name="Content Placeholder 4"/>
          <p:cNvSpPr>
            <a:spLocks noGrp="1"/>
          </p:cNvSpPr>
          <p:nvPr>
            <p:ph sz="half" idx="1"/>
          </p:nvPr>
        </p:nvSpPr>
        <p:spPr>
          <a:xfrm>
            <a:off x="479571" y="1269358"/>
            <a:ext cx="5029200" cy="536575"/>
          </a:xfrm>
        </p:spPr>
        <p:txBody>
          <a:bodyPr>
            <a:noAutofit/>
          </a:bodyPr>
          <a:lstStyle/>
          <a:p>
            <a:pPr marL="0" indent="0">
              <a:buNone/>
            </a:pPr>
            <a:r>
              <a:rPr lang="es-ES" sz="1600"/>
              <a:t>No invocar </a:t>
            </a:r>
            <a:r>
              <a:rPr lang="es-ES" sz="1600" err="1">
                <a:solidFill>
                  <a:schemeClr val="accent1"/>
                </a:solidFill>
              </a:rPr>
              <a:t>session_start</a:t>
            </a:r>
            <a:r>
              <a:rPr lang="es-ES" sz="1600">
                <a:solidFill>
                  <a:schemeClr val="accent1"/>
                </a:solidFill>
              </a:rPr>
              <a:t>() </a:t>
            </a:r>
            <a:r>
              <a:rPr lang="es-ES" sz="1600"/>
              <a:t>en cada página del sitio si la sesión no será utilizada.</a:t>
            </a:r>
            <a:endParaRPr lang="en-US" sz="1600"/>
          </a:p>
        </p:txBody>
      </p:sp>
      <p:sp>
        <p:nvSpPr>
          <p:cNvPr id="7" name="CuadroTexto 6"/>
          <p:cNvSpPr txBox="1"/>
          <p:nvPr/>
        </p:nvSpPr>
        <p:spPr>
          <a:xfrm>
            <a:off x="479571" y="2514600"/>
            <a:ext cx="6400800" cy="2646878"/>
          </a:xfrm>
          <a:prstGeom prst="rect">
            <a:avLst/>
          </a:prstGeom>
          <a:noFill/>
        </p:spPr>
        <p:txBody>
          <a:bodyPr wrap="square" rtlCol="0">
            <a:spAutoFit/>
          </a:bodyPr>
          <a:lstStyle/>
          <a:p>
            <a:r>
              <a:rPr lang="es-ES" sz="2000" b="1"/>
              <a:t>Habilitar el uso de </a:t>
            </a:r>
            <a:r>
              <a:rPr lang="es-ES" sz="2000" b="1" err="1"/>
              <a:t>HttpOnly</a:t>
            </a:r>
            <a:r>
              <a:rPr lang="es-ES" sz="2000" b="1"/>
              <a:t> y </a:t>
            </a:r>
            <a:r>
              <a:rPr lang="es-ES" sz="2000" b="1" err="1"/>
              <a:t>Secure</a:t>
            </a:r>
            <a:endParaRPr lang="es-ES" sz="2000" b="1"/>
          </a:p>
          <a:p>
            <a:endParaRPr lang="es-ES"/>
          </a:p>
          <a:p>
            <a:r>
              <a:rPr lang="es-PA" sz="1600"/>
              <a:t>// Configurar las cookies para la sesión con </a:t>
            </a:r>
            <a:r>
              <a:rPr lang="es-PA" sz="1600" err="1"/>
              <a:t>HttpOnly</a:t>
            </a:r>
            <a:r>
              <a:rPr lang="es-PA" sz="1600"/>
              <a:t> y </a:t>
            </a:r>
            <a:r>
              <a:rPr lang="es-PA" sz="1600" err="1"/>
              <a:t>Secure</a:t>
            </a:r>
            <a:endParaRPr lang="es-PA" sz="1600"/>
          </a:p>
          <a:p>
            <a:r>
              <a:rPr lang="es-PA" sz="1600" err="1">
                <a:solidFill>
                  <a:schemeClr val="accent1"/>
                </a:solidFill>
              </a:rPr>
              <a:t>ini_set</a:t>
            </a:r>
            <a:r>
              <a:rPr lang="es-PA" sz="1600">
                <a:solidFill>
                  <a:schemeClr val="accent1"/>
                </a:solidFill>
              </a:rPr>
              <a:t>('</a:t>
            </a:r>
            <a:r>
              <a:rPr lang="es-PA" sz="1600" err="1">
                <a:solidFill>
                  <a:schemeClr val="accent1"/>
                </a:solidFill>
              </a:rPr>
              <a:t>session.cookie_httponly</a:t>
            </a:r>
            <a:r>
              <a:rPr lang="es-PA" sz="1600">
                <a:solidFill>
                  <a:schemeClr val="accent1"/>
                </a:solidFill>
              </a:rPr>
              <a:t>', 1);</a:t>
            </a:r>
          </a:p>
          <a:p>
            <a:r>
              <a:rPr lang="es-PA" sz="1600" err="1">
                <a:solidFill>
                  <a:schemeClr val="accent1"/>
                </a:solidFill>
              </a:rPr>
              <a:t>ini_set</a:t>
            </a:r>
            <a:r>
              <a:rPr lang="es-PA" sz="1600">
                <a:solidFill>
                  <a:schemeClr val="accent1"/>
                </a:solidFill>
              </a:rPr>
              <a:t>('</a:t>
            </a:r>
            <a:r>
              <a:rPr lang="es-PA" sz="1600" err="1">
                <a:solidFill>
                  <a:schemeClr val="accent1"/>
                </a:solidFill>
              </a:rPr>
              <a:t>session.cookie_secure</a:t>
            </a:r>
            <a:r>
              <a:rPr lang="es-PA" sz="1600">
                <a:solidFill>
                  <a:schemeClr val="accent1"/>
                </a:solidFill>
              </a:rPr>
              <a:t>', 1);  </a:t>
            </a:r>
            <a:r>
              <a:rPr lang="es-PA" sz="1600"/>
              <a:t>// Solo si usa HTTPS</a:t>
            </a:r>
          </a:p>
          <a:p>
            <a:r>
              <a:rPr lang="es-PA" sz="1600" err="1">
                <a:solidFill>
                  <a:schemeClr val="accent1"/>
                </a:solidFill>
              </a:rPr>
              <a:t>session_start</a:t>
            </a:r>
            <a:r>
              <a:rPr lang="es-PA" sz="1600">
                <a:solidFill>
                  <a:schemeClr val="accent1"/>
                </a:solidFill>
              </a:rPr>
              <a:t>();</a:t>
            </a:r>
          </a:p>
          <a:p>
            <a:endParaRPr lang="es-PA" sz="1600">
              <a:solidFill>
                <a:schemeClr val="accent1"/>
              </a:solidFill>
            </a:endParaRPr>
          </a:p>
          <a:p>
            <a:r>
              <a:rPr lang="es-ES" sz="1600" i="1" err="1"/>
              <a:t>HttpOnly</a:t>
            </a:r>
            <a:r>
              <a:rPr lang="es-ES" sz="1600" i="1"/>
              <a:t> evita que el contenido de la cookie de sesión sea accesible mediante JavaScript. </a:t>
            </a:r>
            <a:r>
              <a:rPr lang="es-ES" sz="1600" i="1" err="1"/>
              <a:t>Secure</a:t>
            </a:r>
            <a:r>
              <a:rPr lang="es-ES" sz="1600" i="1"/>
              <a:t> asegura que la cookie solo sea enviada a través de conexiones HTTPS.</a:t>
            </a:r>
            <a:endParaRPr lang="es-PA" sz="1600" i="1"/>
          </a:p>
        </p:txBody>
      </p:sp>
      <p:sp>
        <p:nvSpPr>
          <p:cNvPr id="9" name="CuadroTexto 8"/>
          <p:cNvSpPr txBox="1"/>
          <p:nvPr/>
        </p:nvSpPr>
        <p:spPr>
          <a:xfrm>
            <a:off x="7543800" y="1219200"/>
            <a:ext cx="4876800" cy="1754326"/>
          </a:xfrm>
          <a:prstGeom prst="rect">
            <a:avLst/>
          </a:prstGeom>
          <a:noFill/>
        </p:spPr>
        <p:txBody>
          <a:bodyPr wrap="square" rtlCol="0">
            <a:spAutoFit/>
          </a:bodyPr>
          <a:lstStyle/>
          <a:p>
            <a:r>
              <a:rPr lang="es-ES"/>
              <a:t>Establecer tiempo de caducidad </a:t>
            </a:r>
          </a:p>
          <a:p>
            <a:endParaRPr lang="es-ES"/>
          </a:p>
          <a:p>
            <a:r>
              <a:rPr lang="es-ES"/>
              <a:t>// Establecer un tiempo de expiración </a:t>
            </a:r>
            <a:r>
              <a:rPr lang="es-ES" err="1">
                <a:solidFill>
                  <a:schemeClr val="accent1"/>
                </a:solidFill>
              </a:rPr>
              <a:t>ini_set</a:t>
            </a:r>
            <a:r>
              <a:rPr lang="es-ES">
                <a:solidFill>
                  <a:schemeClr val="accent1"/>
                </a:solidFill>
              </a:rPr>
              <a:t>('</a:t>
            </a:r>
            <a:r>
              <a:rPr lang="es-ES" err="1">
                <a:solidFill>
                  <a:schemeClr val="accent1"/>
                </a:solidFill>
              </a:rPr>
              <a:t>session.gc_maxlifetime</a:t>
            </a:r>
            <a:r>
              <a:rPr lang="es-ES">
                <a:solidFill>
                  <a:schemeClr val="accent1"/>
                </a:solidFill>
              </a:rPr>
              <a:t>', 1800);</a:t>
            </a:r>
          </a:p>
          <a:p>
            <a:r>
              <a:rPr lang="es-ES" err="1">
                <a:solidFill>
                  <a:schemeClr val="accent1"/>
                </a:solidFill>
              </a:rPr>
              <a:t>session_start</a:t>
            </a:r>
            <a:r>
              <a:rPr lang="es-ES">
                <a:solidFill>
                  <a:schemeClr val="accent1"/>
                </a:solidFill>
              </a:rPr>
              <a:t>();</a:t>
            </a:r>
          </a:p>
          <a:p>
            <a:endParaRPr lang="es-PA"/>
          </a:p>
        </p:txBody>
      </p:sp>
    </p:spTree>
    <p:extLst>
      <p:ext uri="{BB962C8B-B14F-4D97-AF65-F5344CB8AC3E}">
        <p14:creationId xmlns:p14="http://schemas.microsoft.com/office/powerpoint/2010/main" val="24260220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1674"/>
          </a:xfrm>
        </p:spPr>
        <p:txBody>
          <a:bodyPr/>
          <a:lstStyle/>
          <a:p>
            <a:r>
              <a:rPr lang="en-US" err="1"/>
              <a:t>Uso</a:t>
            </a:r>
            <a:r>
              <a:rPr lang="en-US"/>
              <a:t> de </a:t>
            </a:r>
            <a:r>
              <a:rPr lang="en-US" err="1"/>
              <a:t>las</a:t>
            </a:r>
            <a:r>
              <a:rPr lang="en-US"/>
              <a:t> </a:t>
            </a:r>
            <a:r>
              <a:rPr lang="en-US" err="1"/>
              <a:t>sesiones</a:t>
            </a:r>
            <a:r>
              <a:rPr lang="en-US"/>
              <a:t> en un </a:t>
            </a:r>
            <a:r>
              <a:rPr lang="en-US" err="1"/>
              <a:t>sitio</a:t>
            </a:r>
            <a:r>
              <a:rPr lang="en-US"/>
              <a:t> web</a:t>
            </a:r>
          </a:p>
        </p:txBody>
      </p:sp>
      <p:sp>
        <p:nvSpPr>
          <p:cNvPr id="8" name="Content Placeholder 7"/>
          <p:cNvSpPr>
            <a:spLocks noGrp="1"/>
          </p:cNvSpPr>
          <p:nvPr>
            <p:ph sz="half" idx="2"/>
          </p:nvPr>
        </p:nvSpPr>
        <p:spPr>
          <a:xfrm>
            <a:off x="838200" y="1371600"/>
            <a:ext cx="9218612" cy="3675063"/>
          </a:xfrm>
        </p:spPr>
        <p:txBody>
          <a:bodyPr>
            <a:normAutofit/>
          </a:bodyPr>
          <a:lstStyle/>
          <a:p>
            <a:r>
              <a:rPr lang="es-ES" sz="1600"/>
              <a:t>Al iniciar sesión, se almacena el ID del usuario en $_SESSION['</a:t>
            </a:r>
            <a:r>
              <a:rPr lang="es-ES" sz="1600" err="1"/>
              <a:t>user_id</a:t>
            </a:r>
            <a:r>
              <a:rPr lang="es-ES" sz="1600"/>
              <a:t>'] para verificar si el usuario está autenticado en cada página.</a:t>
            </a:r>
          </a:p>
          <a:p>
            <a:r>
              <a:rPr lang="es-PA" sz="1600"/>
              <a:t>Carrito de compras.</a:t>
            </a:r>
          </a:p>
          <a:p>
            <a:r>
              <a:rPr lang="es-ES" sz="1600"/>
              <a:t>Si un usuario selecciona un idioma preferido, este se almacena en la sesión y el sitio puede mostrar las páginas en ese idioma durante toda la sesión.</a:t>
            </a:r>
          </a:p>
          <a:p>
            <a:r>
              <a:rPr lang="es-ES" sz="1600"/>
              <a:t>Mantenimiento de datos entre formularios (</a:t>
            </a:r>
            <a:r>
              <a:rPr lang="es-ES" sz="1600" err="1"/>
              <a:t>Multi</a:t>
            </a:r>
            <a:r>
              <a:rPr lang="es-ES" sz="1600"/>
              <a:t>-paso).</a:t>
            </a:r>
          </a:p>
          <a:p>
            <a:r>
              <a:rPr lang="es-ES" sz="1600"/>
              <a:t>Las sesiones permiten </a:t>
            </a:r>
            <a:r>
              <a:rPr lang="es-ES" sz="1600" b="1" i="1"/>
              <a:t>rastrear la actividad del usuario</a:t>
            </a:r>
            <a:r>
              <a:rPr lang="es-ES" sz="1600"/>
              <a:t> dentro del sitio web.</a:t>
            </a:r>
          </a:p>
          <a:p>
            <a:r>
              <a:rPr lang="es-ES" sz="1600"/>
              <a:t> Restricción de acceso a ciertas páginas.</a:t>
            </a:r>
          </a:p>
          <a:p>
            <a:r>
              <a:rPr lang="es-ES" sz="1600"/>
              <a:t>Los usuarios conectados pueden ser registrados en una tabla de la base de datos, y el estado "en línea" se actualiza en tiempo real según la actividad de la sesión.</a:t>
            </a:r>
            <a:endParaRPr lang="en-US" sz="1600"/>
          </a:p>
        </p:txBody>
      </p:sp>
    </p:spTree>
    <p:extLst>
      <p:ext uri="{BB962C8B-B14F-4D97-AF65-F5344CB8AC3E}">
        <p14:creationId xmlns:p14="http://schemas.microsoft.com/office/powerpoint/2010/main" val="3387061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r>
              <a:rPr lang="en-US"/>
              <a:t>¿</a:t>
            </a:r>
            <a:r>
              <a:rPr lang="en-US" err="1"/>
              <a:t>Cuándo</a:t>
            </a:r>
            <a:r>
              <a:rPr lang="en-US"/>
              <a:t> </a:t>
            </a:r>
            <a:r>
              <a:rPr lang="en-US" err="1"/>
              <a:t>usar</a:t>
            </a:r>
            <a:r>
              <a:rPr lang="en-US"/>
              <a:t> </a:t>
            </a:r>
            <a:r>
              <a:rPr lang="en-US" err="1"/>
              <a:t>sesiones</a:t>
            </a:r>
            <a:r>
              <a:rPr lang="en-US"/>
              <a:t> y </a:t>
            </a:r>
            <a:r>
              <a:rPr lang="en-US" err="1"/>
              <a:t>cuándo</a:t>
            </a:r>
            <a:r>
              <a:rPr lang="en-US"/>
              <a:t> cookies?</a:t>
            </a:r>
          </a:p>
        </p:txBody>
      </p:sp>
      <p:sp>
        <p:nvSpPr>
          <p:cNvPr id="3" name="CuadroTexto 2"/>
          <p:cNvSpPr txBox="1"/>
          <p:nvPr/>
        </p:nvSpPr>
        <p:spPr>
          <a:xfrm>
            <a:off x="838200" y="1143000"/>
            <a:ext cx="10439400" cy="1477328"/>
          </a:xfrm>
          <a:prstGeom prst="rect">
            <a:avLst/>
          </a:prstGeom>
          <a:noFill/>
        </p:spPr>
        <p:txBody>
          <a:bodyPr wrap="square" rtlCol="0">
            <a:spAutoFit/>
          </a:bodyPr>
          <a:lstStyle/>
          <a:p>
            <a:r>
              <a:rPr lang="es-ES"/>
              <a:t>Cookies y sesiones son dos mecanismos de almacenamiento de datos en un sitio web, cada uno con sus ventajas y desventajas. Elegir entre ellos depende del </a:t>
            </a:r>
            <a:r>
              <a:rPr lang="es-ES" b="1"/>
              <a:t>tipo de información</a:t>
            </a:r>
            <a:r>
              <a:rPr lang="es-ES"/>
              <a:t>, </a:t>
            </a:r>
            <a:r>
              <a:rPr lang="es-ES" b="1"/>
              <a:t>seguridad</a:t>
            </a:r>
            <a:r>
              <a:rPr lang="es-ES"/>
              <a:t> y </a:t>
            </a:r>
            <a:r>
              <a:rPr lang="es-ES" b="1"/>
              <a:t>duración</a:t>
            </a:r>
            <a:r>
              <a:rPr lang="es-ES"/>
              <a:t> del almacenamiento que se necesite.</a:t>
            </a:r>
          </a:p>
          <a:p>
            <a:endParaRPr lang="es-ES"/>
          </a:p>
          <a:p>
            <a:r>
              <a:rPr lang="es-ES" b="1">
                <a:solidFill>
                  <a:schemeClr val="accent1"/>
                </a:solidFill>
              </a:rPr>
              <a:t>Comparación</a:t>
            </a:r>
            <a:endParaRPr lang="es-PA" b="1">
              <a:solidFill>
                <a:schemeClr val="accent1"/>
              </a:solidFill>
            </a:endParaRPr>
          </a:p>
        </p:txBody>
      </p:sp>
      <p:graphicFrame>
        <p:nvGraphicFramePr>
          <p:cNvPr id="4" name="Tabla 3"/>
          <p:cNvGraphicFramePr>
            <a:graphicFrameLocks noGrp="1"/>
          </p:cNvGraphicFramePr>
          <p:nvPr>
            <p:extLst>
              <p:ext uri="{D42A27DB-BD31-4B8C-83A1-F6EECF244321}">
                <p14:modId xmlns:p14="http://schemas.microsoft.com/office/powerpoint/2010/main" val="2471532143"/>
              </p:ext>
            </p:extLst>
          </p:nvPr>
        </p:nvGraphicFramePr>
        <p:xfrm>
          <a:off x="2286001" y="2620328"/>
          <a:ext cx="7848600" cy="3879616"/>
        </p:xfrm>
        <a:graphic>
          <a:graphicData uri="http://schemas.openxmlformats.org/drawingml/2006/table">
            <a:tbl>
              <a:tblPr firstRow="1" bandRow="1">
                <a:tableStyleId>{3B4B98B0-60AC-42C2-AFA5-B58CD77FA1E5}</a:tableStyleId>
              </a:tblPr>
              <a:tblGrid>
                <a:gridCol w="2616200">
                  <a:extLst>
                    <a:ext uri="{9D8B030D-6E8A-4147-A177-3AD203B41FA5}">
                      <a16:colId xmlns:a16="http://schemas.microsoft.com/office/drawing/2014/main" val="20000"/>
                    </a:ext>
                  </a:extLst>
                </a:gridCol>
                <a:gridCol w="2616200">
                  <a:extLst>
                    <a:ext uri="{9D8B030D-6E8A-4147-A177-3AD203B41FA5}">
                      <a16:colId xmlns:a16="http://schemas.microsoft.com/office/drawing/2014/main" val="20001"/>
                    </a:ext>
                  </a:extLst>
                </a:gridCol>
                <a:gridCol w="2616200">
                  <a:extLst>
                    <a:ext uri="{9D8B030D-6E8A-4147-A177-3AD203B41FA5}">
                      <a16:colId xmlns:a16="http://schemas.microsoft.com/office/drawing/2014/main" val="20002"/>
                    </a:ext>
                  </a:extLst>
                </a:gridCol>
              </a:tblGrid>
              <a:tr h="342815">
                <a:tc>
                  <a:txBody>
                    <a:bodyPr/>
                    <a:lstStyle/>
                    <a:p>
                      <a:r>
                        <a:rPr lang="es-ES"/>
                        <a:t>Aspecto</a:t>
                      </a:r>
                      <a:endParaRPr lang="es-PA"/>
                    </a:p>
                  </a:txBody>
                  <a:tcPr/>
                </a:tc>
                <a:tc>
                  <a:txBody>
                    <a:bodyPr/>
                    <a:lstStyle/>
                    <a:p>
                      <a:r>
                        <a:rPr lang="es-ES"/>
                        <a:t>Cookies</a:t>
                      </a:r>
                      <a:endParaRPr lang="es-PA"/>
                    </a:p>
                  </a:txBody>
                  <a:tcPr/>
                </a:tc>
                <a:tc>
                  <a:txBody>
                    <a:bodyPr/>
                    <a:lstStyle/>
                    <a:p>
                      <a:r>
                        <a:rPr lang="es-ES"/>
                        <a:t>Sesiones</a:t>
                      </a:r>
                      <a:endParaRPr lang="es-PA"/>
                    </a:p>
                  </a:txBody>
                  <a:tcPr/>
                </a:tc>
                <a:extLst>
                  <a:ext uri="{0D108BD9-81ED-4DB2-BD59-A6C34878D82A}">
                    <a16:rowId xmlns:a16="http://schemas.microsoft.com/office/drawing/2014/main" val="10000"/>
                  </a:ext>
                </a:extLst>
              </a:tr>
              <a:tr h="599927">
                <a:tc>
                  <a:txBody>
                    <a:bodyPr/>
                    <a:lstStyle/>
                    <a:p>
                      <a:r>
                        <a:rPr lang="es-PA" sz="1600"/>
                        <a:t>Almacenamiento</a:t>
                      </a:r>
                    </a:p>
                  </a:txBody>
                  <a:tcPr/>
                </a:tc>
                <a:tc>
                  <a:txBody>
                    <a:bodyPr/>
                    <a:lstStyle/>
                    <a:p>
                      <a:r>
                        <a:rPr lang="es-PA" sz="1600"/>
                        <a:t>Lado del cliente (navegador)</a:t>
                      </a:r>
                    </a:p>
                  </a:txBody>
                  <a:tcPr/>
                </a:tc>
                <a:tc>
                  <a:txBody>
                    <a:bodyPr/>
                    <a:lstStyle/>
                    <a:p>
                      <a:r>
                        <a:rPr lang="es-PA" sz="1600"/>
                        <a:t>Lado del servidor</a:t>
                      </a:r>
                    </a:p>
                  </a:txBody>
                  <a:tcPr/>
                </a:tc>
                <a:extLst>
                  <a:ext uri="{0D108BD9-81ED-4DB2-BD59-A6C34878D82A}">
                    <a16:rowId xmlns:a16="http://schemas.microsoft.com/office/drawing/2014/main" val="10001"/>
                  </a:ext>
                </a:extLst>
              </a:tr>
              <a:tr h="342815">
                <a:tc>
                  <a:txBody>
                    <a:bodyPr/>
                    <a:lstStyle/>
                    <a:p>
                      <a:r>
                        <a:rPr lang="es-PA" sz="1600"/>
                        <a:t>Tamaño máximo</a:t>
                      </a:r>
                    </a:p>
                  </a:txBody>
                  <a:tcPr/>
                </a:tc>
                <a:tc>
                  <a:txBody>
                    <a:bodyPr/>
                    <a:lstStyle/>
                    <a:p>
                      <a:r>
                        <a:rPr lang="es-PA" sz="1600"/>
                        <a:t>Limitadas a unos 4KB</a:t>
                      </a:r>
                    </a:p>
                  </a:txBody>
                  <a:tcPr/>
                </a:tc>
                <a:tc>
                  <a:txBody>
                    <a:bodyPr/>
                    <a:lstStyle/>
                    <a:p>
                      <a:r>
                        <a:rPr lang="es-PA" sz="1600"/>
                        <a:t>Depende del servidor.</a:t>
                      </a:r>
                    </a:p>
                  </a:txBody>
                  <a:tcPr/>
                </a:tc>
                <a:extLst>
                  <a:ext uri="{0D108BD9-81ED-4DB2-BD59-A6C34878D82A}">
                    <a16:rowId xmlns:a16="http://schemas.microsoft.com/office/drawing/2014/main" val="10002"/>
                  </a:ext>
                </a:extLst>
              </a:tr>
              <a:tr h="857038">
                <a:tc>
                  <a:txBody>
                    <a:bodyPr/>
                    <a:lstStyle/>
                    <a:p>
                      <a:r>
                        <a:rPr lang="es-PA" sz="1600"/>
                        <a:t>Duración</a:t>
                      </a:r>
                    </a:p>
                  </a:txBody>
                  <a:tcPr/>
                </a:tc>
                <a:tc>
                  <a:txBody>
                    <a:bodyPr/>
                    <a:lstStyle/>
                    <a:p>
                      <a:r>
                        <a:rPr lang="es-ES" sz="1600"/>
                        <a:t>Persiste según la fecha de expiración</a:t>
                      </a:r>
                      <a:endParaRPr lang="es-PA" sz="1600"/>
                    </a:p>
                  </a:txBody>
                  <a:tcPr/>
                </a:tc>
                <a:tc>
                  <a:txBody>
                    <a:bodyPr/>
                    <a:lstStyle/>
                    <a:p>
                      <a:r>
                        <a:rPr lang="es-ES" sz="1600"/>
                        <a:t>Expira al cerrar el navegador o después de un tiempo inactivo</a:t>
                      </a:r>
                      <a:endParaRPr lang="es-PA" sz="1600"/>
                    </a:p>
                  </a:txBody>
                  <a:tcPr/>
                </a:tc>
                <a:extLst>
                  <a:ext uri="{0D108BD9-81ED-4DB2-BD59-A6C34878D82A}">
                    <a16:rowId xmlns:a16="http://schemas.microsoft.com/office/drawing/2014/main" val="10003"/>
                  </a:ext>
                </a:extLst>
              </a:tr>
              <a:tr h="857038">
                <a:tc>
                  <a:txBody>
                    <a:bodyPr/>
                    <a:lstStyle/>
                    <a:p>
                      <a:r>
                        <a:rPr lang="es-PA" sz="1600"/>
                        <a:t>Seguridad</a:t>
                      </a:r>
                    </a:p>
                  </a:txBody>
                  <a:tcPr/>
                </a:tc>
                <a:tc>
                  <a:txBody>
                    <a:bodyPr/>
                    <a:lstStyle/>
                    <a:p>
                      <a:r>
                        <a:rPr lang="es-PA" sz="1600"/>
                        <a:t>Vulnerables a manipulación</a:t>
                      </a:r>
                    </a:p>
                  </a:txBody>
                  <a:tcPr/>
                </a:tc>
                <a:tc>
                  <a:txBody>
                    <a:bodyPr/>
                    <a:lstStyle/>
                    <a:p>
                      <a:r>
                        <a:rPr lang="es-ES" sz="1600"/>
                        <a:t>Más seguras, almacenadas en el servidor</a:t>
                      </a:r>
                      <a:endParaRPr lang="es-PA" sz="1600"/>
                    </a:p>
                  </a:txBody>
                  <a:tcPr/>
                </a:tc>
                <a:extLst>
                  <a:ext uri="{0D108BD9-81ED-4DB2-BD59-A6C34878D82A}">
                    <a16:rowId xmlns:a16="http://schemas.microsoft.com/office/drawing/2014/main" val="10004"/>
                  </a:ext>
                </a:extLst>
              </a:tr>
              <a:tr h="857038">
                <a:tc>
                  <a:txBody>
                    <a:bodyPr/>
                    <a:lstStyle/>
                    <a:p>
                      <a:r>
                        <a:rPr lang="es-PA" sz="1600"/>
                        <a:t>Velocidad</a:t>
                      </a:r>
                    </a:p>
                  </a:txBody>
                  <a:tcPr/>
                </a:tc>
                <a:tc>
                  <a:txBody>
                    <a:bodyPr/>
                    <a:lstStyle/>
                    <a:p>
                      <a:r>
                        <a:rPr lang="es-PA" sz="1600"/>
                        <a:t>Acceso rápido (local)</a:t>
                      </a:r>
                    </a:p>
                  </a:txBody>
                  <a:tcPr/>
                </a:tc>
                <a:tc>
                  <a:txBody>
                    <a:bodyPr/>
                    <a:lstStyle/>
                    <a:p>
                      <a:r>
                        <a:rPr lang="es-ES" sz="1600"/>
                        <a:t>Depende</a:t>
                      </a:r>
                      <a:r>
                        <a:rPr lang="es-ES" sz="1600" baseline="0"/>
                        <a:t> de la comunicación con el servidor.</a:t>
                      </a:r>
                      <a:endParaRPr lang="es-PA" sz="160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405004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r>
              <a:rPr lang="en-US"/>
              <a:t>¿</a:t>
            </a:r>
            <a:r>
              <a:rPr lang="en-US" err="1"/>
              <a:t>Cuándo</a:t>
            </a:r>
            <a:r>
              <a:rPr lang="en-US"/>
              <a:t> </a:t>
            </a:r>
            <a:r>
              <a:rPr lang="en-US" err="1"/>
              <a:t>usar</a:t>
            </a:r>
            <a:r>
              <a:rPr lang="en-US"/>
              <a:t> cookies?</a:t>
            </a:r>
          </a:p>
        </p:txBody>
      </p:sp>
      <p:sp>
        <p:nvSpPr>
          <p:cNvPr id="3" name="CuadroTexto 2"/>
          <p:cNvSpPr txBox="1"/>
          <p:nvPr/>
        </p:nvSpPr>
        <p:spPr>
          <a:xfrm>
            <a:off x="914400" y="1143000"/>
            <a:ext cx="10439400" cy="203132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ES"/>
              <a:t>Almacenar datos que deben persistir entre visitas, </a:t>
            </a:r>
            <a:r>
              <a:rPr lang="es-ES">
                <a:solidFill>
                  <a:schemeClr val="accent1"/>
                </a:solidFill>
              </a:rPr>
              <a:t>ejemplo</a:t>
            </a:r>
            <a:r>
              <a:rPr lang="es-ES"/>
              <a:t>: preferencias de idioma, tema oscuro, etc.</a:t>
            </a:r>
            <a:endParaRPr lang="es-PA"/>
          </a:p>
          <a:p>
            <a:pPr marL="285750" indent="-285750">
              <a:buFont typeface="Arial" panose="020B0604020202020204" pitchFamily="34" charset="0"/>
              <a:buChar char="•"/>
            </a:pPr>
            <a:r>
              <a:rPr lang="es-ES"/>
              <a:t>Guardar datos que no son sensibles, </a:t>
            </a:r>
            <a:r>
              <a:rPr lang="es-ES">
                <a:solidFill>
                  <a:schemeClr val="accent1"/>
                </a:solidFill>
              </a:rPr>
              <a:t>ejemplo</a:t>
            </a:r>
            <a:r>
              <a:rPr lang="es-ES"/>
              <a:t>: productos vistos recientemente.</a:t>
            </a:r>
          </a:p>
          <a:p>
            <a:pPr marL="285750" indent="-285750">
              <a:buFont typeface="Arial" panose="020B0604020202020204" pitchFamily="34" charset="0"/>
              <a:buChar char="•"/>
            </a:pPr>
            <a:r>
              <a:rPr lang="es-ES"/>
              <a:t>Seguimiento de usuarios para publicidad, </a:t>
            </a:r>
            <a:r>
              <a:rPr lang="es-ES">
                <a:solidFill>
                  <a:schemeClr val="accent1"/>
                </a:solidFill>
              </a:rPr>
              <a:t>ejemplo</a:t>
            </a:r>
            <a:r>
              <a:rPr lang="es-ES"/>
              <a:t>: recordar las preferencias de compra del usuario o su historial de navegación en el sitio.</a:t>
            </a:r>
          </a:p>
          <a:p>
            <a:pPr marL="285750" indent="-285750">
              <a:buFont typeface="Arial" panose="020B0604020202020204" pitchFamily="34" charset="0"/>
              <a:buChar char="•"/>
            </a:pPr>
            <a:endParaRPr lang="es-ES"/>
          </a:p>
          <a:p>
            <a:pPr marL="285750" indent="-285750">
              <a:buFont typeface="Arial" panose="020B0604020202020204" pitchFamily="34" charset="0"/>
              <a:buChar char="•"/>
            </a:pPr>
            <a:endParaRPr lang="es-ES"/>
          </a:p>
        </p:txBody>
      </p:sp>
      <p:sp>
        <p:nvSpPr>
          <p:cNvPr id="4" name="Title 1"/>
          <p:cNvSpPr txBox="1">
            <a:spLocks/>
          </p:cNvSpPr>
          <p:nvPr/>
        </p:nvSpPr>
        <p:spPr>
          <a:xfrm>
            <a:off x="914400" y="3090883"/>
            <a:ext cx="10515600" cy="549274"/>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US"/>
              <a:t>¿</a:t>
            </a:r>
            <a:r>
              <a:rPr lang="en-US" err="1"/>
              <a:t>Cuándo</a:t>
            </a:r>
            <a:r>
              <a:rPr lang="en-US"/>
              <a:t> </a:t>
            </a:r>
            <a:r>
              <a:rPr lang="en-US" err="1"/>
              <a:t>usar</a:t>
            </a:r>
            <a:r>
              <a:rPr lang="en-US"/>
              <a:t> </a:t>
            </a:r>
            <a:r>
              <a:rPr lang="en-US" err="1"/>
              <a:t>sesiones</a:t>
            </a:r>
            <a:r>
              <a:rPr lang="en-US"/>
              <a:t>?</a:t>
            </a:r>
          </a:p>
        </p:txBody>
      </p:sp>
      <p:sp>
        <p:nvSpPr>
          <p:cNvPr id="5" name="CuadroTexto 4"/>
          <p:cNvSpPr txBox="1"/>
          <p:nvPr/>
        </p:nvSpPr>
        <p:spPr>
          <a:xfrm>
            <a:off x="838200" y="3810000"/>
            <a:ext cx="10439400" cy="2031325"/>
          </a:xfrm>
          <a:prstGeom prst="rect">
            <a:avLst/>
          </a:prstGeom>
          <a:noFill/>
        </p:spPr>
        <p:txBody>
          <a:bodyPr wrap="square" rtlCol="0">
            <a:spAutoFit/>
          </a:bodyPr>
          <a:lstStyle/>
          <a:p>
            <a:pPr marL="285750" indent="-285750">
              <a:buFont typeface="Arial" panose="020B0604020202020204" pitchFamily="34" charset="0"/>
              <a:buChar char="•"/>
            </a:pPr>
            <a:r>
              <a:rPr lang="es-PA"/>
              <a:t>Guardar datos temporales o sensibles, </a:t>
            </a:r>
            <a:r>
              <a:rPr lang="es-PA">
                <a:solidFill>
                  <a:schemeClr val="accent1"/>
                </a:solidFill>
              </a:rPr>
              <a:t>ejemplo</a:t>
            </a:r>
            <a:r>
              <a:rPr lang="es-PA"/>
              <a:t>: autenticación de usuarios, </a:t>
            </a:r>
            <a:r>
              <a:rPr lang="es-ES"/>
              <a:t>información del proceso de pago o formularios </a:t>
            </a:r>
            <a:r>
              <a:rPr lang="es-ES" err="1"/>
              <a:t>multi</a:t>
            </a:r>
            <a:r>
              <a:rPr lang="es-ES"/>
              <a:t>-paso.</a:t>
            </a:r>
            <a:endParaRPr lang="es-PA"/>
          </a:p>
          <a:p>
            <a:pPr marL="285750" indent="-285750">
              <a:buFont typeface="Arial" panose="020B0604020202020204" pitchFamily="34" charset="0"/>
              <a:buChar char="•"/>
            </a:pPr>
            <a:r>
              <a:rPr lang="es-ES"/>
              <a:t>Interacciones que dependen del estado del usuario, </a:t>
            </a:r>
            <a:r>
              <a:rPr lang="es-ES">
                <a:solidFill>
                  <a:schemeClr val="accent1"/>
                </a:solidFill>
              </a:rPr>
              <a:t>ejemplo</a:t>
            </a:r>
            <a:r>
              <a:rPr lang="es-ES"/>
              <a:t>: Mantener el estado de un carrito de compras hasta que el usuario realice la compra.</a:t>
            </a:r>
          </a:p>
          <a:p>
            <a:pPr marL="285750" indent="-285750">
              <a:buFont typeface="Arial" panose="020B0604020202020204" pitchFamily="34" charset="0"/>
              <a:buChar char="•"/>
            </a:pPr>
            <a:r>
              <a:rPr lang="es-ES"/>
              <a:t>Restricciones de acceso, </a:t>
            </a:r>
            <a:r>
              <a:rPr lang="es-ES">
                <a:solidFill>
                  <a:schemeClr val="accent1"/>
                </a:solidFill>
              </a:rPr>
              <a:t>ejemplo</a:t>
            </a:r>
            <a:r>
              <a:rPr lang="es-ES"/>
              <a:t>: opciones del sitio web que solo los usuarios con roles de </a:t>
            </a:r>
            <a:r>
              <a:rPr lang="es-ES" err="1"/>
              <a:t>admin</a:t>
            </a:r>
            <a:r>
              <a:rPr lang="es-ES"/>
              <a:t> pueden acceder.</a:t>
            </a:r>
          </a:p>
          <a:p>
            <a:pPr marL="285750" indent="-285750">
              <a:buFont typeface="Arial" panose="020B0604020202020204" pitchFamily="34" charset="0"/>
              <a:buChar char="•"/>
            </a:pPr>
            <a:endParaRPr lang="es-ES"/>
          </a:p>
        </p:txBody>
      </p:sp>
    </p:spTree>
    <p:extLst>
      <p:ext uri="{BB962C8B-B14F-4D97-AF65-F5344CB8AC3E}">
        <p14:creationId xmlns:p14="http://schemas.microsoft.com/office/powerpoint/2010/main" val="6651628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0" y="1524000"/>
            <a:ext cx="4953000" cy="1905000"/>
          </a:xfrm>
        </p:spPr>
        <p:txBody>
          <a:bodyPr/>
          <a:lstStyle/>
          <a:p>
            <a:r>
              <a:rPr lang="en-US" err="1"/>
              <a:t>Mgtr</a:t>
            </a:r>
            <a:r>
              <a:rPr lang="en-US"/>
              <a:t>. </a:t>
            </a:r>
            <a:r>
              <a:rPr lang="en-US" err="1"/>
              <a:t>Tomás</a:t>
            </a:r>
            <a:r>
              <a:rPr lang="en-US"/>
              <a:t> </a:t>
            </a:r>
            <a:r>
              <a:rPr lang="en-US" err="1"/>
              <a:t>Calderón</a:t>
            </a:r>
            <a:endParaRPr lang="en-US"/>
          </a:p>
        </p:txBody>
      </p:sp>
    </p:spTree>
    <p:extLst>
      <p:ext uri="{BB962C8B-B14F-4D97-AF65-F5344CB8AC3E}">
        <p14:creationId xmlns:p14="http://schemas.microsoft.com/office/powerpoint/2010/main" val="18274311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CITY SKETCH 16X9">
  <a:themeElements>
    <a:clrScheme name="CitySketch">
      <a:dk1>
        <a:srgbClr val="3D372E"/>
      </a:dk1>
      <a:lt1>
        <a:sysClr val="window" lastClr="FFFFFF"/>
      </a:lt1>
      <a:dk2>
        <a:srgbClr val="000000"/>
      </a:dk2>
      <a:lt2>
        <a:srgbClr val="E0ECE1"/>
      </a:lt2>
      <a:accent1>
        <a:srgbClr val="B2D0B4"/>
      </a:accent1>
      <a:accent2>
        <a:srgbClr val="88A5BA"/>
      </a:accent2>
      <a:accent3>
        <a:srgbClr val="909F5F"/>
      </a:accent3>
      <a:accent4>
        <a:srgbClr val="C9A057"/>
      </a:accent4>
      <a:accent5>
        <a:srgbClr val="DA7D60"/>
      </a:accent5>
      <a:accent6>
        <a:srgbClr val="978975"/>
      </a:accent6>
      <a:hlink>
        <a:srgbClr val="C9A057"/>
      </a:hlink>
      <a:folHlink>
        <a:srgbClr val="978975"/>
      </a:folHlink>
    </a:clrScheme>
    <a:fontScheme name="Century Schoolbook">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itySketch">
      <a:dk1>
        <a:srgbClr val="3D372E"/>
      </a:dk1>
      <a:lt1>
        <a:sysClr val="window" lastClr="FFFFFF"/>
      </a:lt1>
      <a:dk2>
        <a:srgbClr val="000000"/>
      </a:dk2>
      <a:lt2>
        <a:srgbClr val="E0ECE1"/>
      </a:lt2>
      <a:accent1>
        <a:srgbClr val="B2D0B4"/>
      </a:accent1>
      <a:accent2>
        <a:srgbClr val="88A5BA"/>
      </a:accent2>
      <a:accent3>
        <a:srgbClr val="909F5F"/>
      </a:accent3>
      <a:accent4>
        <a:srgbClr val="C9A057"/>
      </a:accent4>
      <a:accent5>
        <a:srgbClr val="DA7D60"/>
      </a:accent5>
      <a:accent6>
        <a:srgbClr val="978975"/>
      </a:accent6>
      <a:hlink>
        <a:srgbClr val="C9A057"/>
      </a:hlink>
      <a:folHlink>
        <a:srgbClr val="978975"/>
      </a:folHlink>
    </a:clrScheme>
    <a:fontScheme name="Century Schoolbook">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itySketch">
      <a:dk1>
        <a:srgbClr val="3D372E"/>
      </a:dk1>
      <a:lt1>
        <a:sysClr val="window" lastClr="FFFFFF"/>
      </a:lt1>
      <a:dk2>
        <a:srgbClr val="000000"/>
      </a:dk2>
      <a:lt2>
        <a:srgbClr val="E0ECE1"/>
      </a:lt2>
      <a:accent1>
        <a:srgbClr val="B2D0B4"/>
      </a:accent1>
      <a:accent2>
        <a:srgbClr val="88A5BA"/>
      </a:accent2>
      <a:accent3>
        <a:srgbClr val="909F5F"/>
      </a:accent3>
      <a:accent4>
        <a:srgbClr val="C9A057"/>
      </a:accent4>
      <a:accent5>
        <a:srgbClr val="DA7D60"/>
      </a:accent5>
      <a:accent6>
        <a:srgbClr val="978975"/>
      </a:accent6>
      <a:hlink>
        <a:srgbClr val="C9A057"/>
      </a:hlink>
      <a:folHlink>
        <a:srgbClr val="978975"/>
      </a:folHlink>
    </a:clrScheme>
    <a:fontScheme name="Century Schoolbook">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77a641c-123d-4d79-b272-d60a57294ef7" xsi:nil="true"/>
    <lcf76f155ced4ddcb4097134ff3c332f xmlns="5e8f54ad-ddc9-466e-becb-47ddc0d2abd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557F1D7237E895408E1CDC5B8278107B" ma:contentTypeVersion="10" ma:contentTypeDescription="Crear nuevo documento." ma:contentTypeScope="" ma:versionID="fde09fbaab07680dfa4d1568911e4787">
  <xsd:schema xmlns:xsd="http://www.w3.org/2001/XMLSchema" xmlns:xs="http://www.w3.org/2001/XMLSchema" xmlns:p="http://schemas.microsoft.com/office/2006/metadata/properties" xmlns:ns2="5e8f54ad-ddc9-466e-becb-47ddc0d2abde" xmlns:ns3="277a641c-123d-4d79-b272-d60a57294ef7" targetNamespace="http://schemas.microsoft.com/office/2006/metadata/properties" ma:root="true" ma:fieldsID="badd5f2953129ad013da0d7b8ca2ba47" ns2:_="" ns3:_="">
    <xsd:import namespace="5e8f54ad-ddc9-466e-becb-47ddc0d2abde"/>
    <xsd:import namespace="277a641c-123d-4d79-b272-d60a57294e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8f54ad-ddc9-466e-becb-47ddc0d2ab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Etiquetas de imagen" ma:readOnly="false" ma:fieldId="{5cf76f15-5ced-4ddc-b409-7134ff3c332f}" ma:taxonomyMulti="true" ma:sspId="1348c8ee-fc48-4349-a3df-b5c7dc9d708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77a641c-123d-4d79-b272-d60a57294ef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ea4cb33-8525-461c-aebb-08aee7e5a9a5}" ma:internalName="TaxCatchAll" ma:showField="CatchAllData" ma:web="277a641c-123d-4d79-b272-d60a57294e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19C0F7-65EC-46C0-86E4-8C48E9945062}">
  <ds:schemaRefs>
    <ds:schemaRef ds:uri="277a641c-123d-4d79-b272-d60a57294ef7"/>
    <ds:schemaRef ds:uri="5e8f54ad-ddc9-466e-becb-47ddc0d2abd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F4FE6A7-30EF-4ED8-872B-B7CCEBE5E4A5}">
  <ds:schemaRefs>
    <ds:schemaRef ds:uri="277a641c-123d-4d79-b272-d60a57294ef7"/>
    <ds:schemaRef ds:uri="5e8f54ad-ddc9-466e-becb-47ddc0d2abd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27FBB80-FCB5-4D9E-9AB5-1D1498AD1D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10</Slides>
  <Notes>1</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CITY SKETCH 16X9</vt:lpstr>
      <vt:lpstr>Sesiones en PHP</vt:lpstr>
      <vt:lpstr>¿Qué son sesiones?</vt:lpstr>
      <vt:lpstr>¿Cómo funcionan las sesiones en PHP?</vt:lpstr>
      <vt:lpstr>Sintaxis</vt:lpstr>
      <vt:lpstr>Sintaxis</vt:lpstr>
      <vt:lpstr>Buenas prácticas para sesiones en PHP</vt:lpstr>
      <vt:lpstr>Uso de las sesiones en un sitio web</vt:lpstr>
      <vt:lpstr>¿Cuándo usar sesiones y cuándo cookies?</vt:lpstr>
      <vt:lpstr>¿Cuándo usar cookies?</vt:lpstr>
      <vt:lpstr>Mgtr. Tomás Calderón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Sesiones en PHP</dc:title>
  <dc:creator/>
  <cp:revision>1</cp:revision>
  <dcterms:created xsi:type="dcterms:W3CDTF">2024-10-07T13:20:33Z</dcterms:created>
  <dcterms:modified xsi:type="dcterms:W3CDTF">2026-05-07T01:46:55Z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0x010100557F1D7237E895408E1CDC5B8278107B</vt:lpwstr>
  </property>
  <property fmtid="{D5CDD505-2E9C-101B-9397-08002B2CF9AE}" pid="3" name="MediaServiceImageTags">
    <vt:lpwstr/>
  </property>
</Properties>
</file>